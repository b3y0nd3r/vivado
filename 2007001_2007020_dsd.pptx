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5"/>
  </p:notesMasterIdLst>
  <p:sldIdLst>
    <p:sldId id="256" r:id="rId2"/>
    <p:sldId id="258" r:id="rId3"/>
    <p:sldId id="330" r:id="rId4"/>
    <p:sldId id="334" r:id="rId5"/>
    <p:sldId id="357" r:id="rId6"/>
    <p:sldId id="348" r:id="rId7"/>
    <p:sldId id="349" r:id="rId8"/>
    <p:sldId id="350" r:id="rId9"/>
    <p:sldId id="351" r:id="rId10"/>
    <p:sldId id="353" r:id="rId11"/>
    <p:sldId id="356" r:id="rId12"/>
    <p:sldId id="354" r:id="rId13"/>
    <p:sldId id="355" r:id="rId14"/>
  </p:sldIdLst>
  <p:sldSz cx="12192000" cy="6858000"/>
  <p:notesSz cx="6858000" cy="9144000"/>
  <p:embeddedFontLst>
    <p:embeddedFont>
      <p:font typeface="Albert Sans" panose="020B0604020202020204" charset="0"/>
      <p:regular r:id="rId16"/>
      <p:bold r:id="rId17"/>
      <p:italic r:id="rId18"/>
      <p:boldItalic r:id="rId19"/>
    </p:embeddedFont>
    <p:embeddedFont>
      <p:font typeface="Albert Sans Medium" panose="020B0604020202020204" charset="0"/>
      <p:regular r:id="rId20"/>
      <p:bold r:id="rId21"/>
      <p:italic r:id="rId22"/>
      <p:boldItalic r:id="rId23"/>
    </p:embeddedFon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384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oyan Barua" initials="CB" lastIdx="1" clrIdx="0">
    <p:extLst>
      <p:ext uri="{19B8F6BF-5375-455C-9EA6-DF929625EA0E}">
        <p15:presenceInfo xmlns:p15="http://schemas.microsoft.com/office/powerpoint/2012/main" userId="Choyan Baru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099A50-3D88-47EE-A1ED-738D47B8E05F}">
  <a:tblStyle styleId="{DB099A50-3D88-47EE-A1ED-738D47B8E0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2615" autoAdjust="0"/>
  </p:normalViewPr>
  <p:slideViewPr>
    <p:cSldViewPr snapToGrid="0">
      <p:cViewPr varScale="1">
        <p:scale>
          <a:sx n="104" d="100"/>
          <a:sy n="104" d="100"/>
        </p:scale>
        <p:origin x="84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30406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8039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11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2038717"/>
            <a:ext cx="9226400" cy="26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67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4961467"/>
            <a:ext cx="3077600" cy="9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515088" y="-1026506"/>
            <a:ext cx="12368365" cy="12235873"/>
            <a:chOff x="-386316" y="-769880"/>
            <a:chExt cx="9276274" cy="9176905"/>
          </a:xfrm>
        </p:grpSpPr>
        <p:sp>
          <p:nvSpPr>
            <p:cNvPr id="12" name="Google Shape;12;p2"/>
            <p:cNvSpPr/>
            <p:nvPr/>
          </p:nvSpPr>
          <p:spPr>
            <a:xfrm>
              <a:off x="7629958" y="3058625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736200" y="3879112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312387" y="-769880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-38477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-386316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F2557A">
                <a:alpha val="524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960000" y="1884700"/>
            <a:ext cx="5726400" cy="27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960000" y="4678400"/>
            <a:ext cx="5726400" cy="1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70217" y="2348900"/>
            <a:ext cx="3346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"/>
          </p:nvPr>
        </p:nvSpPr>
        <p:spPr>
          <a:xfrm>
            <a:off x="7676984" y="2348900"/>
            <a:ext cx="3346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3"/>
          </p:nvPr>
        </p:nvSpPr>
        <p:spPr>
          <a:xfrm>
            <a:off x="7676983" y="3725004"/>
            <a:ext cx="3346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4"/>
          </p:nvPr>
        </p:nvSpPr>
        <p:spPr>
          <a:xfrm>
            <a:off x="2370217" y="3725012"/>
            <a:ext cx="3346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5" hasCustomPrompt="1"/>
          </p:nvPr>
        </p:nvSpPr>
        <p:spPr>
          <a:xfrm>
            <a:off x="1168617" y="1973700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6" hasCustomPrompt="1"/>
          </p:nvPr>
        </p:nvSpPr>
        <p:spPr>
          <a:xfrm>
            <a:off x="6475384" y="3349800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7" hasCustomPrompt="1"/>
          </p:nvPr>
        </p:nvSpPr>
        <p:spPr>
          <a:xfrm>
            <a:off x="6475384" y="1973700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8" hasCustomPrompt="1"/>
          </p:nvPr>
        </p:nvSpPr>
        <p:spPr>
          <a:xfrm>
            <a:off x="1168617" y="3349800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9"/>
          </p:nvPr>
        </p:nvSpPr>
        <p:spPr>
          <a:xfrm>
            <a:off x="7676983" y="5101104"/>
            <a:ext cx="3346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3"/>
          </p:nvPr>
        </p:nvSpPr>
        <p:spPr>
          <a:xfrm>
            <a:off x="2370217" y="5101100"/>
            <a:ext cx="33464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4" hasCustomPrompt="1"/>
          </p:nvPr>
        </p:nvSpPr>
        <p:spPr>
          <a:xfrm>
            <a:off x="6475384" y="4725900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5" hasCustomPrompt="1"/>
          </p:nvPr>
        </p:nvSpPr>
        <p:spPr>
          <a:xfrm>
            <a:off x="1168617" y="4725900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6"/>
          </p:nvPr>
        </p:nvSpPr>
        <p:spPr>
          <a:xfrm>
            <a:off x="2370216" y="1973700"/>
            <a:ext cx="3346400" cy="5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7"/>
          </p:nvPr>
        </p:nvSpPr>
        <p:spPr>
          <a:xfrm>
            <a:off x="7676984" y="1973700"/>
            <a:ext cx="3346400" cy="5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8"/>
          </p:nvPr>
        </p:nvSpPr>
        <p:spPr>
          <a:xfrm>
            <a:off x="7676983" y="3349800"/>
            <a:ext cx="3346400" cy="5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9"/>
          </p:nvPr>
        </p:nvSpPr>
        <p:spPr>
          <a:xfrm>
            <a:off x="2370216" y="3349784"/>
            <a:ext cx="3346400" cy="5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0"/>
          </p:nvPr>
        </p:nvSpPr>
        <p:spPr>
          <a:xfrm>
            <a:off x="7676983" y="4725900"/>
            <a:ext cx="3346400" cy="5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21"/>
          </p:nvPr>
        </p:nvSpPr>
        <p:spPr>
          <a:xfrm>
            <a:off x="2370216" y="4725900"/>
            <a:ext cx="3346400" cy="51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667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-484152" y="-915807"/>
            <a:ext cx="13113731" cy="8154373"/>
            <a:chOff x="-363114" y="-686855"/>
            <a:chExt cx="9835298" cy="6115780"/>
          </a:xfrm>
        </p:grpSpPr>
        <p:sp>
          <p:nvSpPr>
            <p:cNvPr id="92" name="Google Shape;92;p13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F2557A">
                <a:alpha val="76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960000" y="2248200"/>
            <a:ext cx="4070800" cy="8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ubTitle" idx="1"/>
          </p:nvPr>
        </p:nvSpPr>
        <p:spPr>
          <a:xfrm>
            <a:off x="960000" y="3056200"/>
            <a:ext cx="4070800" cy="15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16"/>
          <p:cNvGrpSpPr/>
          <p:nvPr/>
        </p:nvGrpSpPr>
        <p:grpSpPr>
          <a:xfrm>
            <a:off x="-142867" y="-6714367"/>
            <a:ext cx="12399000" cy="20286733"/>
            <a:chOff x="-107150" y="-5059050"/>
            <a:chExt cx="9299250" cy="15215050"/>
          </a:xfrm>
        </p:grpSpPr>
        <p:sp>
          <p:nvSpPr>
            <p:cNvPr id="114" name="Google Shape;114;p16"/>
            <p:cNvSpPr/>
            <p:nvPr/>
          </p:nvSpPr>
          <p:spPr>
            <a:xfrm flipH="1">
              <a:off x="-107150" y="-5059050"/>
              <a:ext cx="1026600" cy="62973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 flipH="1">
              <a:off x="8165500" y="3858700"/>
              <a:ext cx="1026600" cy="6297300"/>
            </a:xfrm>
            <a:prstGeom prst="roundRect">
              <a:avLst>
                <a:gd name="adj" fmla="val 50000"/>
              </a:avLst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116" name="Google Shape;116;p16"/>
          <p:cNvSpPr/>
          <p:nvPr/>
        </p:nvSpPr>
        <p:spPr>
          <a:xfrm rot="10800000" flipH="1">
            <a:off x="11241027" y="4074599"/>
            <a:ext cx="1166000" cy="3430800"/>
          </a:xfrm>
          <a:prstGeom prst="roundRect">
            <a:avLst>
              <a:gd name="adj" fmla="val 50000"/>
            </a:avLst>
          </a:prstGeom>
          <a:solidFill>
            <a:srgbClr val="F6F6F6">
              <a:alpha val="206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 flipH="1">
            <a:off x="11083167" y="-904533"/>
            <a:ext cx="2198400" cy="2198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2" name="Google Shape;242;p29"/>
          <p:cNvSpPr/>
          <p:nvPr/>
        </p:nvSpPr>
        <p:spPr>
          <a:xfrm rot="5400000" flipH="1">
            <a:off x="-36133" y="6149600"/>
            <a:ext cx="714800" cy="7020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3" name="Google Shape;243;p29"/>
          <p:cNvSpPr/>
          <p:nvPr/>
        </p:nvSpPr>
        <p:spPr>
          <a:xfrm flipH="1">
            <a:off x="228267" y="5958680"/>
            <a:ext cx="702000" cy="702000"/>
          </a:xfrm>
          <a:prstGeom prst="ellipse">
            <a:avLst/>
          </a:prstGeom>
          <a:solidFill>
            <a:srgbClr val="0584A4">
              <a:alpha val="31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10426067" y="-5100675"/>
            <a:ext cx="1978000" cy="5820000"/>
          </a:xfrm>
          <a:prstGeom prst="roundRect">
            <a:avLst>
              <a:gd name="adj" fmla="val 50000"/>
            </a:avLst>
          </a:prstGeom>
          <a:solidFill>
            <a:srgbClr val="FFFFFF">
              <a:alpha val="412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30"/>
          <p:cNvGrpSpPr/>
          <p:nvPr/>
        </p:nvGrpSpPr>
        <p:grpSpPr>
          <a:xfrm>
            <a:off x="-484152" y="-915807"/>
            <a:ext cx="13113731" cy="8154373"/>
            <a:chOff x="-363114" y="-686855"/>
            <a:chExt cx="9835298" cy="6115780"/>
          </a:xfrm>
        </p:grpSpPr>
        <p:sp>
          <p:nvSpPr>
            <p:cNvPr id="247" name="Google Shape;247;p30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EE325F">
                <a:alpha val="71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2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9" r:id="rId3"/>
    <p:sldLayoutId id="2147483662" r:id="rId4"/>
    <p:sldLayoutId id="2147483675" r:id="rId5"/>
    <p:sldLayoutId id="214748367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3660" y="123281"/>
            <a:ext cx="1129228" cy="12676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52695" y="411648"/>
            <a:ext cx="7286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Khulna</a:t>
            </a:r>
            <a:r>
              <a:rPr lang="en-US" sz="2400" spc="85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University</a:t>
            </a:r>
            <a:r>
              <a:rPr lang="en-US" sz="2400" spc="90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of</a:t>
            </a:r>
            <a:r>
              <a:rPr lang="en-US" sz="2400" spc="30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Engineering</a:t>
            </a:r>
            <a:r>
              <a:rPr lang="en-US" sz="2400" spc="95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sz="2400" dirty="0">
                <a:latin typeface="Poppins" panose="020B0604020202020204" charset="0"/>
                <a:cs typeface="Poppins" panose="020B0604020202020204" charset="0"/>
              </a:rPr>
              <a:t>&amp;</a:t>
            </a:r>
            <a:r>
              <a:rPr lang="en-US" sz="2400" spc="-20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sz="2400" spc="-10" dirty="0">
                <a:latin typeface="Poppins" panose="020B0604020202020204" charset="0"/>
                <a:cs typeface="Poppins" panose="020B0604020202020204" charset="0"/>
              </a:rPr>
              <a:t>Technology</a:t>
            </a:r>
            <a:endParaRPr lang="en-US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25" name="object 11"/>
          <p:cNvSpPr txBox="1"/>
          <p:nvPr/>
        </p:nvSpPr>
        <p:spPr>
          <a:xfrm>
            <a:off x="1538570" y="969280"/>
            <a:ext cx="9114860" cy="1440331"/>
          </a:xfrm>
          <a:prstGeom prst="rect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Poppins" panose="00000500000000000000" pitchFamily="2" charset="0"/>
                <a:ea typeface="Times New Roman Bold"/>
                <a:cs typeface="Poppins" panose="00000500000000000000" pitchFamily="2" charset="0"/>
                <a:sym typeface="Times New Roman Bold"/>
              </a:rPr>
              <a:t>CSE 4224 : Digital Systems Design laboratory</a:t>
            </a:r>
          </a:p>
          <a:p>
            <a:pPr algn="ctr">
              <a:spcBef>
                <a:spcPct val="0"/>
              </a:spcBef>
            </a:pPr>
            <a:endParaRPr lang="en-US" sz="1800" b="1" dirty="0">
              <a:solidFill>
                <a:srgbClr val="000000"/>
              </a:solidFill>
              <a:latin typeface="Poppins" panose="00000500000000000000" pitchFamily="2" charset="0"/>
              <a:ea typeface="Times New Roman Bold"/>
              <a:cs typeface="Poppins" panose="00000500000000000000" pitchFamily="2" charset="0"/>
              <a:sym typeface="Times New Roman Bold"/>
            </a:endParaRPr>
          </a:p>
          <a:p>
            <a:pPr marL="12700" marR="5080" algn="ctr">
              <a:lnSpc>
                <a:spcPct val="102400"/>
              </a:lnSpc>
              <a:spcBef>
                <a:spcPts val="5"/>
              </a:spcBef>
              <a:tabLst>
                <a:tab pos="866140" algn="l"/>
                <a:tab pos="1136015" algn="l"/>
                <a:tab pos="1363345" algn="l"/>
                <a:tab pos="3333750" algn="l"/>
                <a:tab pos="4250055" algn="l"/>
                <a:tab pos="4968240" algn="l"/>
                <a:tab pos="4989195" algn="l"/>
                <a:tab pos="5415915" algn="l"/>
                <a:tab pos="6522084" algn="l"/>
                <a:tab pos="7337425" algn="l"/>
                <a:tab pos="8877935" algn="l"/>
                <a:tab pos="9415780" algn="l"/>
                <a:tab pos="9871710" algn="l"/>
              </a:tabLst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Poppins" panose="00000500000000000000" pitchFamily="2" charset="0"/>
                <a:cs typeface="Poppins" panose="00000500000000000000" pitchFamily="2" charset="0"/>
              </a:rPr>
              <a:t>Title</a:t>
            </a:r>
            <a:r>
              <a:rPr sz="2800" b="1" u="sng" spc="-50" dirty="0">
                <a:uFill>
                  <a:solidFill>
                    <a:srgbClr val="000000"/>
                  </a:solidFill>
                </a:u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en-US" sz="2800" b="1" u="sng" spc="-50" dirty="0">
                <a:uFill>
                  <a:solidFill>
                    <a:srgbClr val="000000"/>
                  </a:solidFill>
                </a:uFill>
                <a:latin typeface="Poppins" panose="00000500000000000000" pitchFamily="2" charset="0"/>
                <a:cs typeface="Poppins" panose="00000500000000000000" pitchFamily="2" charset="0"/>
              </a:rPr>
              <a:t>-</a:t>
            </a:r>
            <a:r>
              <a:rPr sz="2800" b="1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GB" sz="28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Thermal Sensor Grid Processing System with Edge Detection and Occupancy Decision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object 12"/>
          <p:cNvSpPr txBox="1"/>
          <p:nvPr/>
        </p:nvSpPr>
        <p:spPr>
          <a:xfrm>
            <a:off x="240145" y="3061281"/>
            <a:ext cx="5614662" cy="3404778"/>
          </a:xfrm>
          <a:prstGeom prst="rect">
            <a:avLst/>
          </a:prstGeom>
          <a:ln w="12700">
            <a:noFill/>
          </a:ln>
        </p:spPr>
        <p:txBody>
          <a:bodyPr vert="horz" wrap="square" lIns="0" tIns="298450" rIns="0" bIns="0" rtlCol="0">
            <a:spAutoFit/>
          </a:bodyPr>
          <a:lstStyle/>
          <a:p>
            <a:pPr marL="191135" algn="ctr">
              <a:spcBef>
                <a:spcPts val="2350"/>
              </a:spcBef>
            </a:pPr>
            <a:r>
              <a:rPr sz="2000" b="1" dirty="0" err="1">
                <a:latin typeface="Poppins" panose="020B0604020202020204" charset="0"/>
                <a:cs typeface="Poppins" panose="020B0604020202020204" charset="0"/>
              </a:rPr>
              <a:t>Pr</a:t>
            </a:r>
            <a:r>
              <a:rPr lang="en-GB" sz="2000" b="1" dirty="0" err="1">
                <a:latin typeface="Poppins" panose="020B0604020202020204" charset="0"/>
                <a:cs typeface="Poppins" panose="020B0604020202020204" charset="0"/>
              </a:rPr>
              <a:t>opos</a:t>
            </a:r>
            <a:r>
              <a:rPr sz="2000" b="1" dirty="0">
                <a:latin typeface="Poppins" panose="020B0604020202020204" charset="0"/>
                <a:cs typeface="Poppins" panose="020B0604020202020204" charset="0"/>
              </a:rPr>
              <a:t>ed</a:t>
            </a:r>
            <a:r>
              <a:rPr sz="2000" b="1" spc="-135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sz="2000" b="1" spc="-25" dirty="0">
                <a:latin typeface="Poppins" panose="020B0604020202020204" charset="0"/>
                <a:cs typeface="Poppins" panose="020B0604020202020204" charset="0"/>
              </a:rPr>
              <a:t>by</a:t>
            </a:r>
            <a:r>
              <a:rPr lang="en-US" sz="2000" b="1" spc="-25" dirty="0">
                <a:latin typeface="Poppins" panose="020B0604020202020204" charset="0"/>
                <a:cs typeface="Poppins" panose="020B0604020202020204" charset="0"/>
              </a:rPr>
              <a:t>-</a:t>
            </a:r>
            <a:endParaRPr sz="2000" b="1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/>
            <a:r>
              <a:rPr lang="en-US" sz="1800" dirty="0" err="1">
                <a:latin typeface="Poppins" panose="020B0604020202020204" charset="0"/>
                <a:cs typeface="Poppins" panose="020B0604020202020204" charset="0"/>
              </a:rPr>
              <a:t>Peyal</a:t>
            </a:r>
            <a:r>
              <a:rPr lang="en-US" sz="1800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en-US" sz="1800" dirty="0" err="1">
                <a:latin typeface="Poppins" panose="020B0604020202020204" charset="0"/>
                <a:cs typeface="Poppins" panose="020B0604020202020204" charset="0"/>
              </a:rPr>
              <a:t>Saha</a:t>
            </a:r>
            <a:endParaRPr sz="18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>
              <a:spcBef>
                <a:spcPts val="45"/>
              </a:spcBef>
            </a:pPr>
            <a:r>
              <a:rPr sz="1800" b="1" dirty="0">
                <a:latin typeface="Poppins" panose="020B0604020202020204" charset="0"/>
                <a:cs typeface="Poppins" panose="020B0604020202020204" charset="0"/>
              </a:rPr>
              <a:t>Roll</a:t>
            </a:r>
            <a:r>
              <a:rPr sz="1800" dirty="0">
                <a:latin typeface="Poppins" panose="020B0604020202020204" charset="0"/>
                <a:cs typeface="Poppins" panose="020B0604020202020204" charset="0"/>
              </a:rPr>
              <a:t>:</a:t>
            </a:r>
            <a:r>
              <a:rPr sz="1800" spc="-10" dirty="0">
                <a:latin typeface="Poppins" panose="020B0604020202020204" charset="0"/>
                <a:cs typeface="Poppins" panose="020B0604020202020204" charset="0"/>
              </a:rPr>
              <a:t>2007</a:t>
            </a:r>
            <a:r>
              <a:rPr lang="en-US" sz="1800" spc="-10" dirty="0">
                <a:latin typeface="Poppins" panose="020B0604020202020204" charset="0"/>
                <a:cs typeface="Poppins" panose="020B0604020202020204" charset="0"/>
              </a:rPr>
              <a:t>001</a:t>
            </a:r>
          </a:p>
          <a:p>
            <a:pPr marL="191135" algn="ctr">
              <a:spcBef>
                <a:spcPts val="45"/>
              </a:spcBef>
            </a:pPr>
            <a:r>
              <a:rPr lang="en-US" sz="1800" spc="-10" dirty="0">
                <a:latin typeface="Poppins" panose="020B0604020202020204" charset="0"/>
                <a:cs typeface="Poppins" panose="020B0604020202020204" charset="0"/>
              </a:rPr>
              <a:t>&amp;</a:t>
            </a:r>
          </a:p>
          <a:p>
            <a:pPr marL="191135" algn="ctr"/>
            <a:r>
              <a:rPr lang="en-US" sz="1800" dirty="0" err="1">
                <a:latin typeface="Poppins" panose="020B0604020202020204" charset="0"/>
                <a:cs typeface="Poppins" panose="020B0604020202020204" charset="0"/>
              </a:rPr>
              <a:t>Ahsanul</a:t>
            </a:r>
            <a:r>
              <a:rPr lang="en-US" sz="1800" dirty="0">
                <a:latin typeface="Poppins" panose="020B0604020202020204" charset="0"/>
                <a:cs typeface="Poppins" panose="020B0604020202020204" charset="0"/>
              </a:rPr>
              <a:t> Haque Hasib</a:t>
            </a:r>
            <a:endParaRPr lang="en-GB" sz="18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>
              <a:spcBef>
                <a:spcPts val="45"/>
              </a:spcBef>
            </a:pPr>
            <a:r>
              <a:rPr lang="en-GB" sz="1800" b="1" dirty="0">
                <a:latin typeface="Poppins" panose="020B0604020202020204" charset="0"/>
                <a:cs typeface="Poppins" panose="020B0604020202020204" charset="0"/>
              </a:rPr>
              <a:t>Roll</a:t>
            </a:r>
            <a:r>
              <a:rPr lang="en-GB" sz="1800" dirty="0">
                <a:latin typeface="Poppins" panose="020B0604020202020204" charset="0"/>
                <a:cs typeface="Poppins" panose="020B0604020202020204" charset="0"/>
              </a:rPr>
              <a:t>:</a:t>
            </a:r>
            <a:r>
              <a:rPr lang="en-GB" sz="1800" spc="-10" dirty="0">
                <a:latin typeface="Poppins" panose="020B0604020202020204" charset="0"/>
                <a:cs typeface="Poppins" panose="020B0604020202020204" charset="0"/>
              </a:rPr>
              <a:t> 2007020</a:t>
            </a:r>
          </a:p>
          <a:p>
            <a:pPr marL="191135" algn="ctr">
              <a:spcBef>
                <a:spcPts val="45"/>
              </a:spcBef>
            </a:pPr>
            <a:endParaRPr lang="en-US" sz="1800" spc="-1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>
              <a:spcBef>
                <a:spcPts val="45"/>
              </a:spcBef>
            </a:pPr>
            <a:r>
              <a:rPr lang="en-US" sz="1800" b="1" spc="-10" dirty="0">
                <a:latin typeface="Poppins" panose="020B0604020202020204" charset="0"/>
                <a:cs typeface="Poppins" panose="020B0604020202020204" charset="0"/>
              </a:rPr>
              <a:t>Year</a:t>
            </a:r>
            <a:r>
              <a:rPr lang="en-US" sz="1800" spc="-10" dirty="0">
                <a:latin typeface="Poppins" panose="020B0604020202020204" charset="0"/>
                <a:cs typeface="Poppins" panose="020B0604020202020204" charset="0"/>
              </a:rPr>
              <a:t>: 4</a:t>
            </a:r>
            <a:r>
              <a:rPr lang="en-US" sz="1800" spc="-10" baseline="30000" dirty="0">
                <a:latin typeface="Poppins" panose="020B0604020202020204" charset="0"/>
                <a:cs typeface="Poppins" panose="020B0604020202020204" charset="0"/>
              </a:rPr>
              <a:t>th</a:t>
            </a:r>
            <a:r>
              <a:rPr lang="en-US" sz="1800" spc="-10" dirty="0">
                <a:latin typeface="Poppins" panose="020B0604020202020204" charset="0"/>
                <a:cs typeface="Poppins" panose="020B0604020202020204" charset="0"/>
              </a:rPr>
              <a:t>, </a:t>
            </a:r>
            <a:r>
              <a:rPr lang="en-US" sz="1800" b="1" spc="-10" dirty="0">
                <a:latin typeface="Poppins" panose="020B0604020202020204" charset="0"/>
                <a:cs typeface="Poppins" panose="020B0604020202020204" charset="0"/>
              </a:rPr>
              <a:t>Semester</a:t>
            </a:r>
            <a:r>
              <a:rPr lang="en-US" sz="1800" spc="-10" dirty="0">
                <a:latin typeface="Poppins" panose="020B0604020202020204" charset="0"/>
                <a:cs typeface="Poppins" panose="020B0604020202020204" charset="0"/>
              </a:rPr>
              <a:t>: 1st</a:t>
            </a:r>
            <a:endParaRPr sz="18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/>
            <a:r>
              <a:rPr sz="1800" dirty="0">
                <a:latin typeface="Poppins" panose="020B0604020202020204" charset="0"/>
                <a:cs typeface="Poppins" panose="020B0604020202020204" charset="0"/>
              </a:rPr>
              <a:t>Department</a:t>
            </a:r>
            <a:r>
              <a:rPr sz="1800" spc="-15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sz="1800" dirty="0">
                <a:latin typeface="Poppins" panose="020B0604020202020204" charset="0"/>
                <a:cs typeface="Poppins" panose="020B0604020202020204" charset="0"/>
              </a:rPr>
              <a:t>of </a:t>
            </a:r>
            <a:r>
              <a:rPr lang="en-US" sz="1800" dirty="0">
                <a:latin typeface="Poppins" panose="020B0604020202020204" charset="0"/>
                <a:cs typeface="Poppins" panose="020B0604020202020204" charset="0"/>
              </a:rPr>
              <a:t>CSE,</a:t>
            </a:r>
            <a:endParaRPr sz="18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>
              <a:spcBef>
                <a:spcPts val="50"/>
              </a:spcBef>
            </a:pPr>
            <a:r>
              <a:rPr sz="1800" dirty="0">
                <a:latin typeface="Poppins" panose="020B0604020202020204" charset="0"/>
                <a:cs typeface="Poppins" panose="020B0604020202020204" charset="0"/>
              </a:rPr>
              <a:t>Khulna</a:t>
            </a:r>
            <a:r>
              <a:rPr sz="1800" spc="-40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sz="1800" dirty="0">
                <a:latin typeface="Poppins" panose="020B0604020202020204" charset="0"/>
                <a:cs typeface="Poppins" panose="020B0604020202020204" charset="0"/>
              </a:rPr>
              <a:t>University</a:t>
            </a:r>
            <a:r>
              <a:rPr sz="1800" spc="-25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sz="1800" dirty="0">
                <a:latin typeface="Poppins" panose="020B0604020202020204" charset="0"/>
                <a:cs typeface="Poppins" panose="020B0604020202020204" charset="0"/>
              </a:rPr>
              <a:t>of Engineering</a:t>
            </a:r>
            <a:r>
              <a:rPr sz="1800" spc="-25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sz="1800" dirty="0">
                <a:latin typeface="Poppins" panose="020B0604020202020204" charset="0"/>
                <a:cs typeface="Poppins" panose="020B0604020202020204" charset="0"/>
              </a:rPr>
              <a:t>&amp;</a:t>
            </a:r>
            <a:r>
              <a:rPr sz="1800" spc="-90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sz="1800" spc="-10" dirty="0">
                <a:latin typeface="Poppins" panose="020B0604020202020204" charset="0"/>
                <a:cs typeface="Poppins" panose="020B0604020202020204" charset="0"/>
              </a:rPr>
              <a:t>Technology</a:t>
            </a:r>
          </a:p>
          <a:p>
            <a:pPr marL="191135" algn="ctr">
              <a:spcBef>
                <a:spcPts val="50"/>
              </a:spcBef>
            </a:pPr>
            <a:endParaRPr lang="en-US" sz="1800" spc="-1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Poppins" panose="020B0604020202020204" charset="0"/>
                <a:cs typeface="Poppins" panose="020B0604020202020204" charset="0"/>
              </a:rPr>
              <a:t>1</a:t>
            </a: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54BFC5A7-1D16-4860-B9C0-0C19D8108FAF}"/>
              </a:ext>
            </a:extLst>
          </p:cNvPr>
          <p:cNvSpPr txBox="1"/>
          <p:nvPr/>
        </p:nvSpPr>
        <p:spPr>
          <a:xfrm>
            <a:off x="5854807" y="3061281"/>
            <a:ext cx="6178081" cy="3102131"/>
          </a:xfrm>
          <a:prstGeom prst="rect">
            <a:avLst/>
          </a:prstGeom>
          <a:ln w="12700">
            <a:noFill/>
          </a:ln>
        </p:spPr>
        <p:txBody>
          <a:bodyPr vert="horz" wrap="square" lIns="0" tIns="298450" rIns="0" bIns="0" rtlCol="0">
            <a:spAutoFit/>
          </a:bodyPr>
          <a:lstStyle/>
          <a:p>
            <a:pPr marL="191135" algn="ctr">
              <a:spcBef>
                <a:spcPts val="2350"/>
              </a:spcBef>
            </a:pPr>
            <a:r>
              <a:rPr lang="en-GB" sz="2000" b="1" dirty="0">
                <a:latin typeface="Poppins" panose="020B0604020202020204" charset="0"/>
                <a:cs typeface="Poppins" panose="020B0604020202020204" charset="0"/>
              </a:rPr>
              <a:t>Supervised</a:t>
            </a:r>
            <a:r>
              <a:rPr sz="2000" b="1" spc="-135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sz="2000" b="1" spc="-25" dirty="0">
                <a:latin typeface="Poppins" panose="020B0604020202020204" charset="0"/>
                <a:cs typeface="Poppins" panose="020B0604020202020204" charset="0"/>
              </a:rPr>
              <a:t>by</a:t>
            </a:r>
            <a:r>
              <a:rPr lang="en-US" sz="2000" b="1" spc="-25" dirty="0">
                <a:latin typeface="Poppins" panose="020B0604020202020204" charset="0"/>
                <a:cs typeface="Poppins" panose="020B0604020202020204" charset="0"/>
              </a:rPr>
              <a:t>-</a:t>
            </a:r>
            <a:endParaRPr sz="16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/>
            <a:r>
              <a:rPr lang="en-US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Dr. Muhammad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Aminul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Haque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Akhand</a:t>
            </a:r>
            <a:endParaRPr lang="en-GB" sz="18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/>
            <a:r>
              <a:rPr lang="en-GB" sz="1800" dirty="0">
                <a:latin typeface="Poppins" panose="020B0604020202020204" charset="0"/>
                <a:cs typeface="Poppins" panose="020B0604020202020204" charset="0"/>
              </a:rPr>
              <a:t>Professor</a:t>
            </a:r>
          </a:p>
          <a:p>
            <a:pPr marL="191135" algn="ctr"/>
            <a:r>
              <a:rPr lang="en-GB" sz="1800" dirty="0">
                <a:latin typeface="Poppins" panose="020B0604020202020204" charset="0"/>
                <a:cs typeface="Poppins" panose="020B0604020202020204" charset="0"/>
              </a:rPr>
              <a:t>&amp;</a:t>
            </a:r>
          </a:p>
          <a:p>
            <a:pPr marL="191135" algn="ctr">
              <a:spcBef>
                <a:spcPts val="45"/>
              </a:spcBef>
            </a:pPr>
            <a:r>
              <a:rPr lang="en-GB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Md.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Sakhawat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Hossain</a:t>
            </a:r>
            <a:endParaRPr lang="en-GB" sz="18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>
              <a:spcBef>
                <a:spcPts val="45"/>
              </a:spcBef>
            </a:pPr>
            <a:r>
              <a:rPr lang="en-US" sz="1800" dirty="0">
                <a:latin typeface="Poppins" panose="020B0604020202020204" charset="0"/>
                <a:cs typeface="Poppins" panose="020B0604020202020204" charset="0"/>
              </a:rPr>
              <a:t>Assistant Professor </a:t>
            </a:r>
          </a:p>
          <a:p>
            <a:pPr marL="191135" algn="ctr">
              <a:spcBef>
                <a:spcPts val="45"/>
              </a:spcBef>
            </a:pPr>
            <a:endParaRPr lang="en-US" sz="18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>
              <a:spcBef>
                <a:spcPts val="45"/>
              </a:spcBef>
            </a:pPr>
            <a:endParaRPr sz="1800" dirty="0">
              <a:latin typeface="Poppins" panose="020B0604020202020204" charset="0"/>
              <a:cs typeface="Poppins" panose="020B0604020202020204" charset="0"/>
            </a:endParaRPr>
          </a:p>
          <a:p>
            <a:pPr marL="191135" algn="ctr"/>
            <a:r>
              <a:rPr sz="1800" dirty="0">
                <a:latin typeface="Poppins" panose="020B0604020202020204" charset="0"/>
                <a:cs typeface="Poppins" panose="020B0604020202020204" charset="0"/>
              </a:rPr>
              <a:t>Department</a:t>
            </a:r>
            <a:r>
              <a:rPr sz="1800" spc="-15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sz="1800" dirty="0">
                <a:latin typeface="Poppins" panose="020B0604020202020204" charset="0"/>
                <a:cs typeface="Poppins" panose="020B0604020202020204" charset="0"/>
              </a:rPr>
              <a:t>of </a:t>
            </a:r>
            <a:r>
              <a:rPr lang="en-US" sz="1800" dirty="0">
                <a:latin typeface="Poppins" panose="020B0604020202020204" charset="0"/>
                <a:cs typeface="Poppins" panose="020B0604020202020204" charset="0"/>
              </a:rPr>
              <a:t>CSE,</a:t>
            </a:r>
          </a:p>
          <a:p>
            <a:pPr marL="191135" algn="ctr"/>
            <a:r>
              <a:rPr lang="en-US" sz="1800" dirty="0">
                <a:latin typeface="Poppins" panose="020B0604020202020204" charset="0"/>
                <a:cs typeface="Poppins" panose="020B0604020202020204" charset="0"/>
              </a:rPr>
              <a:t>Khulna University of Engineering &amp; Technology</a:t>
            </a:r>
            <a:endParaRPr sz="180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0145" y="3061281"/>
            <a:ext cx="11591071" cy="366609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endCxn id="2" idx="2"/>
          </p:cNvCxnSpPr>
          <p:nvPr/>
        </p:nvCxnSpPr>
        <p:spPr>
          <a:xfrm flipH="1">
            <a:off x="6035681" y="3061281"/>
            <a:ext cx="10556" cy="3666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37431" y="56877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600" dirty="0">
                <a:solidFill>
                  <a:schemeClr val="bg1">
                    <a:lumMod val="10000"/>
                  </a:schemeClr>
                </a:solidFill>
              </a:rPr>
              <a:t>Outlines</a:t>
            </a:r>
            <a:endParaRPr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81" name="Google Shape;281;p36"/>
          <p:cNvSpPr txBox="1">
            <a:spLocks noGrp="1"/>
          </p:cNvSpPr>
          <p:nvPr>
            <p:ph type="title" idx="5"/>
          </p:nvPr>
        </p:nvSpPr>
        <p:spPr>
          <a:xfrm>
            <a:off x="1200644" y="1156797"/>
            <a:ext cx="1201600" cy="82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01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82" name="Google Shape;282;p36"/>
          <p:cNvSpPr txBox="1">
            <a:spLocks noGrp="1"/>
          </p:cNvSpPr>
          <p:nvPr>
            <p:ph type="title" idx="6"/>
          </p:nvPr>
        </p:nvSpPr>
        <p:spPr>
          <a:xfrm>
            <a:off x="6427731" y="1918872"/>
            <a:ext cx="1201600" cy="82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08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83" name="Google Shape;283;p36"/>
          <p:cNvSpPr txBox="1">
            <a:spLocks noGrp="1"/>
          </p:cNvSpPr>
          <p:nvPr>
            <p:ph type="title" idx="7"/>
          </p:nvPr>
        </p:nvSpPr>
        <p:spPr>
          <a:xfrm>
            <a:off x="6349440" y="1246172"/>
            <a:ext cx="1201600" cy="82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07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84" name="Google Shape;284;p36"/>
          <p:cNvSpPr txBox="1">
            <a:spLocks noGrp="1"/>
          </p:cNvSpPr>
          <p:nvPr>
            <p:ph type="title" idx="8"/>
          </p:nvPr>
        </p:nvSpPr>
        <p:spPr>
          <a:xfrm>
            <a:off x="1200642" y="1825210"/>
            <a:ext cx="1201600" cy="82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02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 idx="14"/>
          </p:nvPr>
        </p:nvSpPr>
        <p:spPr>
          <a:xfrm>
            <a:off x="6455311" y="2591572"/>
            <a:ext cx="1201600" cy="82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09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88" name="Google Shape;288;p36"/>
          <p:cNvSpPr txBox="1">
            <a:spLocks noGrp="1"/>
          </p:cNvSpPr>
          <p:nvPr>
            <p:ph type="title" idx="15"/>
          </p:nvPr>
        </p:nvSpPr>
        <p:spPr>
          <a:xfrm>
            <a:off x="1256411" y="2591572"/>
            <a:ext cx="1201600" cy="82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03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89" name="Google Shape;289;p36"/>
          <p:cNvSpPr txBox="1">
            <a:spLocks noGrp="1"/>
          </p:cNvSpPr>
          <p:nvPr>
            <p:ph type="subTitle" idx="16"/>
          </p:nvPr>
        </p:nvSpPr>
        <p:spPr>
          <a:xfrm>
            <a:off x="2402242" y="1360197"/>
            <a:ext cx="3346400" cy="51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2200" dirty="0">
                <a:solidFill>
                  <a:schemeClr val="bg1">
                    <a:lumMod val="10000"/>
                  </a:schemeClr>
                </a:solidFill>
              </a:rPr>
              <a:t>Project Overview</a:t>
            </a:r>
            <a:endParaRPr sz="22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90" name="Google Shape;290;p36"/>
          <p:cNvSpPr txBox="1">
            <a:spLocks noGrp="1"/>
          </p:cNvSpPr>
          <p:nvPr>
            <p:ph type="subTitle" idx="17"/>
          </p:nvPr>
        </p:nvSpPr>
        <p:spPr>
          <a:xfrm>
            <a:off x="7551038" y="1453822"/>
            <a:ext cx="3346400" cy="51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2200" dirty="0">
                <a:solidFill>
                  <a:schemeClr val="bg1">
                    <a:lumMod val="10000"/>
                  </a:schemeClr>
                </a:solidFill>
              </a:rPr>
              <a:t>Booth Multiplier</a:t>
            </a:r>
            <a:endParaRPr lang="en-US" sz="2200" dirty="0">
              <a:solidFill>
                <a:schemeClr val="bg1">
                  <a:lumMod val="10000"/>
                </a:schemeClr>
              </a:solidFill>
              <a:effectLst/>
            </a:endParaRPr>
          </a:p>
        </p:txBody>
      </p:sp>
      <p:sp>
        <p:nvSpPr>
          <p:cNvPr id="291" name="Google Shape;291;p36"/>
          <p:cNvSpPr txBox="1">
            <a:spLocks noGrp="1"/>
          </p:cNvSpPr>
          <p:nvPr>
            <p:ph type="subTitle" idx="18"/>
          </p:nvPr>
        </p:nvSpPr>
        <p:spPr>
          <a:xfrm>
            <a:off x="7606199" y="2134010"/>
            <a:ext cx="4327912" cy="51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2200" dirty="0">
                <a:solidFill>
                  <a:schemeClr val="bg1">
                    <a:lumMod val="10000"/>
                  </a:schemeClr>
                </a:solidFill>
              </a:rPr>
              <a:t>Decision Logic</a:t>
            </a:r>
          </a:p>
        </p:txBody>
      </p:sp>
      <p:sp>
        <p:nvSpPr>
          <p:cNvPr id="292" name="Google Shape;292;p36"/>
          <p:cNvSpPr txBox="1">
            <a:spLocks noGrp="1"/>
          </p:cNvSpPr>
          <p:nvPr>
            <p:ph type="subTitle" idx="19"/>
          </p:nvPr>
        </p:nvSpPr>
        <p:spPr>
          <a:xfrm>
            <a:off x="2397496" y="2077972"/>
            <a:ext cx="3892039" cy="51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2200" dirty="0">
                <a:solidFill>
                  <a:schemeClr val="bg1">
                    <a:lumMod val="10000"/>
                  </a:schemeClr>
                </a:solidFill>
              </a:rPr>
              <a:t>System Workflow</a:t>
            </a:r>
            <a:endParaRPr sz="22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93" name="Google Shape;293;p36"/>
          <p:cNvSpPr txBox="1">
            <a:spLocks noGrp="1"/>
          </p:cNvSpPr>
          <p:nvPr>
            <p:ph type="subTitle" idx="20"/>
          </p:nvPr>
        </p:nvSpPr>
        <p:spPr>
          <a:xfrm>
            <a:off x="7606199" y="2796072"/>
            <a:ext cx="4515971" cy="51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2200" dirty="0">
                <a:solidFill>
                  <a:schemeClr val="bg1">
                    <a:lumMod val="10000"/>
                  </a:schemeClr>
                </a:solidFill>
              </a:rPr>
              <a:t>Control Unit</a:t>
            </a:r>
          </a:p>
        </p:txBody>
      </p:sp>
      <p:sp>
        <p:nvSpPr>
          <p:cNvPr id="294" name="Google Shape;294;p36"/>
          <p:cNvSpPr txBox="1">
            <a:spLocks noGrp="1"/>
          </p:cNvSpPr>
          <p:nvPr>
            <p:ph type="subTitle" idx="21"/>
          </p:nvPr>
        </p:nvSpPr>
        <p:spPr>
          <a:xfrm>
            <a:off x="2454486" y="2786691"/>
            <a:ext cx="3346400" cy="51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2200" dirty="0">
                <a:solidFill>
                  <a:schemeClr val="bg1">
                    <a:lumMod val="10000"/>
                  </a:schemeClr>
                </a:solidFill>
              </a:rPr>
              <a:t>System Architecture</a:t>
            </a:r>
          </a:p>
        </p:txBody>
      </p:sp>
      <p:sp>
        <p:nvSpPr>
          <p:cNvPr id="21" name="Oval 20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2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34" name="Google Shape;288;p36">
            <a:extLst>
              <a:ext uri="{FF2B5EF4-FFF2-40B4-BE49-F238E27FC236}">
                <a16:creationId xmlns:a16="http://schemas.microsoft.com/office/drawing/2014/main" id="{899D8EB2-E57A-4AA0-B0EB-6482F337DB4E}"/>
              </a:ext>
            </a:extLst>
          </p:cNvPr>
          <p:cNvSpPr txBox="1">
            <a:spLocks/>
          </p:cNvSpPr>
          <p:nvPr/>
        </p:nvSpPr>
        <p:spPr>
          <a:xfrm>
            <a:off x="1255803" y="3192985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04</a:t>
            </a:r>
          </a:p>
        </p:txBody>
      </p:sp>
      <p:sp>
        <p:nvSpPr>
          <p:cNvPr id="35" name="Google Shape;294;p36">
            <a:extLst>
              <a:ext uri="{FF2B5EF4-FFF2-40B4-BE49-F238E27FC236}">
                <a16:creationId xmlns:a16="http://schemas.microsoft.com/office/drawing/2014/main" id="{56E8CB03-716C-4A8D-AAB3-D9503971652C}"/>
              </a:ext>
            </a:extLst>
          </p:cNvPr>
          <p:cNvSpPr txBox="1">
            <a:spLocks/>
          </p:cNvSpPr>
          <p:nvPr/>
        </p:nvSpPr>
        <p:spPr>
          <a:xfrm>
            <a:off x="2390186" y="3245772"/>
            <a:ext cx="4391232" cy="61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667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2200" dirty="0">
                <a:solidFill>
                  <a:schemeClr val="bg1">
                    <a:lumMod val="10000"/>
                  </a:schemeClr>
                </a:solidFill>
              </a:rPr>
              <a:t>Memory Mapping</a:t>
            </a:r>
          </a:p>
        </p:txBody>
      </p:sp>
      <p:sp>
        <p:nvSpPr>
          <p:cNvPr id="36" name="Google Shape;287;p36">
            <a:extLst>
              <a:ext uri="{FF2B5EF4-FFF2-40B4-BE49-F238E27FC236}">
                <a16:creationId xmlns:a16="http://schemas.microsoft.com/office/drawing/2014/main" id="{501A8463-7CB2-453B-929F-E5637EAAB82C}"/>
              </a:ext>
            </a:extLst>
          </p:cNvPr>
          <p:cNvSpPr txBox="1">
            <a:spLocks/>
          </p:cNvSpPr>
          <p:nvPr/>
        </p:nvSpPr>
        <p:spPr>
          <a:xfrm>
            <a:off x="6455311" y="3192985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10</a:t>
            </a:r>
          </a:p>
        </p:txBody>
      </p:sp>
      <p:sp>
        <p:nvSpPr>
          <p:cNvPr id="37" name="Google Shape;293;p36">
            <a:extLst>
              <a:ext uri="{FF2B5EF4-FFF2-40B4-BE49-F238E27FC236}">
                <a16:creationId xmlns:a16="http://schemas.microsoft.com/office/drawing/2014/main" id="{CE847FE4-C431-4758-8C0C-897AD59033C5}"/>
              </a:ext>
            </a:extLst>
          </p:cNvPr>
          <p:cNvSpPr txBox="1">
            <a:spLocks/>
          </p:cNvSpPr>
          <p:nvPr/>
        </p:nvSpPr>
        <p:spPr>
          <a:xfrm>
            <a:off x="7551038" y="3424653"/>
            <a:ext cx="33464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667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2200" dirty="0">
                <a:solidFill>
                  <a:schemeClr val="bg1">
                    <a:lumMod val="10000"/>
                  </a:schemeClr>
                </a:solidFill>
              </a:rPr>
              <a:t>Summary</a:t>
            </a:r>
          </a:p>
        </p:txBody>
      </p:sp>
      <p:sp>
        <p:nvSpPr>
          <p:cNvPr id="38" name="Google Shape;288;p36">
            <a:extLst>
              <a:ext uri="{FF2B5EF4-FFF2-40B4-BE49-F238E27FC236}">
                <a16:creationId xmlns:a16="http://schemas.microsoft.com/office/drawing/2014/main" id="{AB994DF1-1C78-4A65-8517-7F0C8218C168}"/>
              </a:ext>
            </a:extLst>
          </p:cNvPr>
          <p:cNvSpPr txBox="1">
            <a:spLocks/>
          </p:cNvSpPr>
          <p:nvPr/>
        </p:nvSpPr>
        <p:spPr>
          <a:xfrm>
            <a:off x="1255803" y="3869458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05</a:t>
            </a:r>
          </a:p>
        </p:txBody>
      </p:sp>
      <p:sp>
        <p:nvSpPr>
          <p:cNvPr id="39" name="Google Shape;294;p36">
            <a:extLst>
              <a:ext uri="{FF2B5EF4-FFF2-40B4-BE49-F238E27FC236}">
                <a16:creationId xmlns:a16="http://schemas.microsoft.com/office/drawing/2014/main" id="{F5FF0050-3EC1-4169-ACAB-90126229FF76}"/>
              </a:ext>
            </a:extLst>
          </p:cNvPr>
          <p:cNvSpPr txBox="1">
            <a:spLocks/>
          </p:cNvSpPr>
          <p:nvPr/>
        </p:nvSpPr>
        <p:spPr>
          <a:xfrm>
            <a:off x="2397496" y="4038348"/>
            <a:ext cx="4383922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667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dirty="0"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Sliding Window Mechanis</a:t>
            </a: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m</a:t>
            </a:r>
            <a:endParaRPr lang="en-US" sz="2200" dirty="0">
              <a:solidFill>
                <a:schemeClr val="bg1">
                  <a:lumMod val="10000"/>
                </a:schemeClr>
              </a:solidFill>
              <a:effectLst/>
            </a:endParaRPr>
          </a:p>
        </p:txBody>
      </p:sp>
      <p:sp>
        <p:nvSpPr>
          <p:cNvPr id="40" name="Google Shape;287;p36">
            <a:extLst>
              <a:ext uri="{FF2B5EF4-FFF2-40B4-BE49-F238E27FC236}">
                <a16:creationId xmlns:a16="http://schemas.microsoft.com/office/drawing/2014/main" id="{ACF98D07-EFDE-4FC7-B3FC-F6EE79863726}"/>
              </a:ext>
            </a:extLst>
          </p:cNvPr>
          <p:cNvSpPr txBox="1">
            <a:spLocks/>
          </p:cNvSpPr>
          <p:nvPr/>
        </p:nvSpPr>
        <p:spPr>
          <a:xfrm>
            <a:off x="6427731" y="3883579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11</a:t>
            </a:r>
          </a:p>
        </p:txBody>
      </p:sp>
      <p:sp>
        <p:nvSpPr>
          <p:cNvPr id="41" name="Google Shape;293;p36">
            <a:extLst>
              <a:ext uri="{FF2B5EF4-FFF2-40B4-BE49-F238E27FC236}">
                <a16:creationId xmlns:a16="http://schemas.microsoft.com/office/drawing/2014/main" id="{94692978-F2D5-4F92-A73C-45C74E629912}"/>
              </a:ext>
            </a:extLst>
          </p:cNvPr>
          <p:cNvSpPr txBox="1">
            <a:spLocks/>
          </p:cNvSpPr>
          <p:nvPr/>
        </p:nvSpPr>
        <p:spPr>
          <a:xfrm>
            <a:off x="7551038" y="4115224"/>
            <a:ext cx="33464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667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2200" dirty="0">
                <a:solidFill>
                  <a:schemeClr val="bg1">
                    <a:lumMod val="10000"/>
                  </a:schemeClr>
                </a:solidFill>
              </a:rPr>
              <a:t>Conclusion</a:t>
            </a:r>
          </a:p>
        </p:txBody>
      </p:sp>
      <p:sp>
        <p:nvSpPr>
          <p:cNvPr id="42" name="Google Shape;288;p36">
            <a:extLst>
              <a:ext uri="{FF2B5EF4-FFF2-40B4-BE49-F238E27FC236}">
                <a16:creationId xmlns:a16="http://schemas.microsoft.com/office/drawing/2014/main" id="{E51186C1-1DAB-425D-A505-8997C7C64268}"/>
              </a:ext>
            </a:extLst>
          </p:cNvPr>
          <p:cNvSpPr txBox="1">
            <a:spLocks/>
          </p:cNvSpPr>
          <p:nvPr/>
        </p:nvSpPr>
        <p:spPr>
          <a:xfrm>
            <a:off x="1255803" y="4524286"/>
            <a:ext cx="1201600" cy="8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>
                <a:solidFill>
                  <a:schemeClr val="bg1">
                    <a:lumMod val="10000"/>
                  </a:schemeClr>
                </a:solidFill>
              </a:rPr>
              <a:t>06</a:t>
            </a:r>
          </a:p>
        </p:txBody>
      </p:sp>
      <p:sp>
        <p:nvSpPr>
          <p:cNvPr id="43" name="Google Shape;294;p36">
            <a:extLst>
              <a:ext uri="{FF2B5EF4-FFF2-40B4-BE49-F238E27FC236}">
                <a16:creationId xmlns:a16="http://schemas.microsoft.com/office/drawing/2014/main" id="{6477A598-3CC0-4638-9009-BBA0AF380D02}"/>
              </a:ext>
            </a:extLst>
          </p:cNvPr>
          <p:cNvSpPr txBox="1">
            <a:spLocks/>
          </p:cNvSpPr>
          <p:nvPr/>
        </p:nvSpPr>
        <p:spPr>
          <a:xfrm>
            <a:off x="2454486" y="4753328"/>
            <a:ext cx="3772226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667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3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2200" dirty="0">
                <a:solidFill>
                  <a:schemeClr val="bg1">
                    <a:lumMod val="10000"/>
                  </a:schemeClr>
                </a:solidFill>
                <a:effectLst/>
              </a:rPr>
              <a:t>2D </a:t>
            </a:r>
            <a:r>
              <a:rPr lang="en" sz="2200" dirty="0">
                <a:solidFill>
                  <a:schemeClr val="bg1">
                    <a:lumMod val="10000"/>
                  </a:schemeClr>
                </a:solidFill>
              </a:rPr>
              <a:t>Convolution Formula</a:t>
            </a:r>
            <a:endParaRPr lang="en-US" sz="2200" dirty="0">
              <a:solidFill>
                <a:schemeClr val="bg1">
                  <a:lumMod val="10000"/>
                </a:schemeClr>
              </a:solidFill>
              <a:effectLst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3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200" dirty="0">
                <a:solidFill>
                  <a:schemeClr val="bg1">
                    <a:lumMod val="10000"/>
                  </a:schemeClr>
                </a:solidFill>
              </a:rPr>
              <a:t>Project Overview</a:t>
            </a:r>
            <a:endParaRPr sz="32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558950" y="1269436"/>
            <a:ext cx="9673050" cy="4319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Hardware-based Image Processor: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Implemented on FPGA for low-latency execution.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Core Logic: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Uses 2D convolution, thresholding, and feature extraction.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Goal: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Detect and signal occupancy by identifying patterns in sensor heatmaps.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Key Components: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256-byte Memory, 20-bit ALU, and FSM-based Control Unit.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  <p:extLst>
      <p:ext uri="{BB962C8B-B14F-4D97-AF65-F5344CB8AC3E}">
        <p14:creationId xmlns:p14="http://schemas.microsoft.com/office/powerpoint/2010/main" val="93970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4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System Workflow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35313" y="1466375"/>
            <a:ext cx="10271999" cy="370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Input: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8x8 Sensor data enters via UART interface.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Process: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lvl="2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	1. Perform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Sliding Window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analysis on the 64-pixel grid. </a:t>
            </a:r>
          </a:p>
          <a:p>
            <a:pPr lvl="2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	2. Execute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2D Convolution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using stored kernel weights. </a:t>
            </a:r>
          </a:p>
          <a:p>
            <a:pPr lvl="2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	3. Compare results against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Threshold (TH)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values.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Output: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Decision logic triggers LED/Buzzer if occupancy is confirmed.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  <p:extLst>
      <p:ext uri="{BB962C8B-B14F-4D97-AF65-F5344CB8AC3E}">
        <p14:creationId xmlns:p14="http://schemas.microsoft.com/office/powerpoint/2010/main" val="208549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5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System Architecture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4250B-38C1-4717-B3D0-6AF61F02F164}"/>
              </a:ext>
            </a:extLst>
          </p:cNvPr>
          <p:cNvSpPr txBox="1"/>
          <p:nvPr/>
        </p:nvSpPr>
        <p:spPr>
          <a:xfrm>
            <a:off x="4440956" y="5642036"/>
            <a:ext cx="380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Figure 1: 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3C6C2-4277-4824-8C7E-D1A03B319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31" y="1033445"/>
            <a:ext cx="8524937" cy="479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1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6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Memory mapping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81338" y="1835828"/>
            <a:ext cx="7554298" cy="370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Spatial Separation: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0x00–0x3F: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Input Buffer (Raw sensor data	</a:t>
            </a:r>
          </a:p>
          <a:p>
            <a:pPr lvl="5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	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0x40–0x48: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Kernel Weights (3x3 filter coefficients).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	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0x50–0x8F: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Output Buffer (Convolved results).	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Integrity: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Dedicated pointers (PC and PTR) ensure input data is not overwritten during processing.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180FD-7BEB-40D6-B98B-5182995D0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331" y="656016"/>
            <a:ext cx="3274924" cy="48833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6D57E2-6747-4237-A4BD-708ABBB4262C}"/>
              </a:ext>
            </a:extLst>
          </p:cNvPr>
          <p:cNvSpPr txBox="1"/>
          <p:nvPr/>
        </p:nvSpPr>
        <p:spPr>
          <a:xfrm>
            <a:off x="8309235" y="5575216"/>
            <a:ext cx="380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Figure 2: System Memory</a:t>
            </a:r>
          </a:p>
        </p:txBody>
      </p:sp>
    </p:spTree>
    <p:extLst>
      <p:ext uri="{BB962C8B-B14F-4D97-AF65-F5344CB8AC3E}">
        <p14:creationId xmlns:p14="http://schemas.microsoft.com/office/powerpoint/2010/main" val="3380790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7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Sliding Window Mechanism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35313" y="1466374"/>
            <a:ext cx="10271999" cy="370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Anchor Pixel: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Pointed to by the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PTR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register. 	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Window Size: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3x3 pixels (9 total values per step).	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Scanning: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The FSM moves the window horizontally and vertically across the 8x8 grid.	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Boundary Control: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X and Y 3-bit registers detect grid edges to prevent calculation errors.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  <p:extLst>
      <p:ext uri="{BB962C8B-B14F-4D97-AF65-F5344CB8AC3E}">
        <p14:creationId xmlns:p14="http://schemas.microsoft.com/office/powerpoint/2010/main" val="754960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8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2D Convolution Formula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1"/>
              <p:cNvSpPr>
                <a:spLocks noChangeArrowheads="1"/>
              </p:cNvSpPr>
              <p:nvPr/>
            </p:nvSpPr>
            <p:spPr bwMode="auto">
              <a:xfrm>
                <a:off x="635313" y="1735550"/>
                <a:ext cx="8508687" cy="31652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lang="en-US" sz="20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Mathematical Operation:</a:t>
                </a:r>
                <a:r>
                  <a:rPr lang="en-US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Multiply-Accumulate (MAC).</a:t>
                </a:r>
                <a:r>
                  <a:rPr lang="en-GB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	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lang="en-US" sz="20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Calculation:</a:t>
                </a:r>
              </a:p>
              <a:p>
                <a:pPr marL="285750" lvl="0" indent="-28575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Ø"/>
                </a:pPr>
                <a:r>
                  <a:rPr lang="en-GB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	</a:t>
                </a:r>
                <a:r>
                  <a:rPr lang="en-US" sz="2000" dirty="0">
                    <a:solidFill>
                      <a:schemeClr val="bg1">
                        <a:lumMod val="10000"/>
                      </a:schemeClr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ACC =</a:t>
                </a:r>
                <a:r>
                  <a:rPr lang="en-US" sz="2000" dirty="0">
                    <a:solidFill>
                      <a:schemeClr val="bg1">
                        <a:lumMod val="10000"/>
                      </a:schemeClr>
                    </a:solidFill>
                    <a:cs typeface="Poppins" panose="00000500000000000000" pitchFamily="2" charset="0"/>
                  </a:rPr>
                  <a:t> ∑ᵢ₌₀⁹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img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[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PTR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 + 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offseti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] 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kernel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[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base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_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address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+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i</m:t>
                    </m:r>
                    <m:r>
                      <m:rPr>
                        <m:nor/>
                      </m:rPr>
                      <a:rPr lang="en-GB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rPr>
                      <m:t>]</m:t>
                    </m:r>
                  </m:oMath>
                </a14:m>
                <a:r>
                  <a:rPr lang="en-GB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)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lang="en-GB" sz="20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PTR :</a:t>
                </a:r>
                <a:r>
                  <a:rPr lang="en-GB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Uses row offsets to find vertical neighbours in the 1D memory array.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10000"/>
                    </a:schemeClr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9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313" y="1735550"/>
                <a:ext cx="8508687" cy="3165225"/>
              </a:xfrm>
              <a:prstGeom prst="rect">
                <a:avLst/>
              </a:prstGeom>
              <a:blipFill>
                <a:blip r:embed="rId2"/>
                <a:stretch>
                  <a:fillRect l="-645" b="-308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301954-83CC-40A9-9775-7FE26AF6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693" y="1414002"/>
            <a:ext cx="2941248" cy="29484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9EF6B3-9540-4C77-8C35-3947820D98D6}"/>
              </a:ext>
            </a:extLst>
          </p:cNvPr>
          <p:cNvSpPr txBox="1"/>
          <p:nvPr/>
        </p:nvSpPr>
        <p:spPr>
          <a:xfrm>
            <a:off x="8486483" y="4432072"/>
            <a:ext cx="3807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Figure 3: Convolution by a 3x3 kernel</a:t>
            </a:r>
          </a:p>
        </p:txBody>
      </p:sp>
    </p:spTree>
    <p:extLst>
      <p:ext uri="{BB962C8B-B14F-4D97-AF65-F5344CB8AC3E}">
        <p14:creationId xmlns:p14="http://schemas.microsoft.com/office/powerpoint/2010/main" val="3147731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9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Booth Multiplier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35314" y="1774150"/>
            <a:ext cx="6925436" cy="308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Input: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Pixel value (8-bit) and Kernel weight (8-bit).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Logic: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Uses Booth’s Algorithm for efficient signed multiplication.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Output: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Generates a 16-bit product to maintain precision before accumulation.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D27D0-76A3-4A5F-A3D4-BFA24B7BD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750" y="1271426"/>
            <a:ext cx="4291454" cy="37005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C093E4-1771-491B-B134-83AB04A9E59F}"/>
              </a:ext>
            </a:extLst>
          </p:cNvPr>
          <p:cNvSpPr txBox="1"/>
          <p:nvPr/>
        </p:nvSpPr>
        <p:spPr>
          <a:xfrm>
            <a:off x="7978483" y="4971991"/>
            <a:ext cx="380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Figure 4: Booth’s Multiplier</a:t>
            </a:r>
          </a:p>
        </p:txBody>
      </p:sp>
    </p:spTree>
    <p:extLst>
      <p:ext uri="{BB962C8B-B14F-4D97-AF65-F5344CB8AC3E}">
        <p14:creationId xmlns:p14="http://schemas.microsoft.com/office/powerpoint/2010/main" val="2935297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824102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10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Decision Logic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35313" y="1774150"/>
            <a:ext cx="10355959" cy="308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Threshold Check: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Convolved pixel values are compared to the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TH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register.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Feature Extraction: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	Heat Detection: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Identify pixels exceeding the high-intensity threshold.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	Edge Counting: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Scan the grid for shape-defining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Final Decision: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Combine Heat and Edge data to confirm object presence.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  <p:extLst>
      <p:ext uri="{BB962C8B-B14F-4D97-AF65-F5344CB8AC3E}">
        <p14:creationId xmlns:p14="http://schemas.microsoft.com/office/powerpoint/2010/main" val="247071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11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Control Unit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35313" y="1774152"/>
            <a:ext cx="10522214" cy="308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Instruction Sequencing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: Directs the flow of the overall system.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Signal Coordination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: Generates the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Load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Enable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other necessary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pulses  and signals for the Memory, ALU, and Registers.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Operational Control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: Manages the transitions between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Sliding Window Analysis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Heat map analysis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  <p:extLst>
      <p:ext uri="{BB962C8B-B14F-4D97-AF65-F5344CB8AC3E}">
        <p14:creationId xmlns:p14="http://schemas.microsoft.com/office/powerpoint/2010/main" val="290482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12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Summary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35313" y="2081926"/>
            <a:ext cx="10152759" cy="247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Memory Unit: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Buffers sensor data and stores the 3x3 kernel.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ALU: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Performs the 20-bit MAC operations and threshold comparisons.	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Control Unit (FSM):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Orchestrates the system workflow from UART load to final output.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  <p:extLst>
      <p:ext uri="{BB962C8B-B14F-4D97-AF65-F5344CB8AC3E}">
        <p14:creationId xmlns:p14="http://schemas.microsoft.com/office/powerpoint/2010/main" val="1301361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5898" y="66208"/>
            <a:ext cx="690880" cy="6908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Poppins" panose="020B0604020202020204" charset="0"/>
                <a:cs typeface="Poppins" panose="020B0604020202020204" charset="0"/>
              </a:rPr>
              <a:t>13</a:t>
            </a:r>
            <a:endParaRPr lang="en-US" sz="24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Google Shape;310;p38"/>
          <p:cNvSpPr txBox="1">
            <a:spLocks noGrp="1"/>
          </p:cNvSpPr>
          <p:nvPr>
            <p:ph type="title"/>
          </p:nvPr>
        </p:nvSpPr>
        <p:spPr>
          <a:xfrm>
            <a:off x="960000" y="113558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GB" sz="3600" dirty="0">
                <a:solidFill>
                  <a:schemeClr val="bg1">
                    <a:lumMod val="10000"/>
                  </a:schemeClr>
                </a:solidFill>
              </a:rPr>
              <a:t>Conclusion</a:t>
            </a:r>
            <a:endParaRPr lang="en-US" sz="3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35313" y="1466374"/>
            <a:ext cx="10688469" cy="370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High-Speed Processing: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Real-time occupancy detection via hardwired FPGA logic.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Efficiency: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Optimized for 8x8 grids, suitable for embedded smart-home or industrial applications.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b="1" dirty="0">
                <a:latin typeface="Poppins" panose="00000500000000000000" pitchFamily="2" charset="0"/>
                <a:cs typeface="Poppins" panose="00000500000000000000" pitchFamily="2" charset="0"/>
              </a:rPr>
              <a:t>Reliability:</a:t>
            </a:r>
            <a:r>
              <a:rPr lang="en-GB" sz="2000" dirty="0">
                <a:latin typeface="Poppins" panose="00000500000000000000" pitchFamily="2" charset="0"/>
                <a:cs typeface="Poppins" panose="00000500000000000000" pitchFamily="2" charset="0"/>
              </a:rPr>
              <a:t> Hardware-based security ensures consistent detection without software lag.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3954" y="66208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Poppins" panose="00000500000000000000" pitchFamily="2" charset="0"/>
                <a:cs typeface="Poppins" panose="00000500000000000000" pitchFamily="2" charset="0"/>
              </a:rPr>
              <a:t>01-Jan-2026</a:t>
            </a:r>
          </a:p>
        </p:txBody>
      </p:sp>
    </p:spTree>
    <p:extLst>
      <p:ext uri="{BB962C8B-B14F-4D97-AF65-F5344CB8AC3E}">
        <p14:creationId xmlns:p14="http://schemas.microsoft.com/office/powerpoint/2010/main" val="4171901331"/>
      </p:ext>
    </p:extLst>
  </p:cSld>
  <p:clrMapOvr>
    <a:masterClrMapping/>
  </p:clrMapOvr>
</p:sld>
</file>

<file path=ppt/theme/theme1.xml><?xml version="1.0" encoding="utf-8"?>
<a:theme xmlns:a="http://schemas.openxmlformats.org/drawingml/2006/main" name="Cellular Respiration and its Impact on Health Research Thesis Defense by Slidesgo">
  <a:themeElements>
    <a:clrScheme name="Simple Light">
      <a:dk1>
        <a:srgbClr val="0B3550"/>
      </a:dk1>
      <a:lt1>
        <a:srgbClr val="F6F6F6"/>
      </a:lt1>
      <a:dk2>
        <a:srgbClr val="0584A4"/>
      </a:dk2>
      <a:lt2>
        <a:srgbClr val="74CEC4"/>
      </a:lt2>
      <a:accent1>
        <a:srgbClr val="F255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2C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2174</TotalTime>
  <Words>678</Words>
  <Application>Microsoft Office PowerPoint</Application>
  <PresentationFormat>Widescreen</PresentationFormat>
  <Paragraphs>127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DM Sans</vt:lpstr>
      <vt:lpstr>Albert Sans</vt:lpstr>
      <vt:lpstr>Arial</vt:lpstr>
      <vt:lpstr>Albert Sans Medium</vt:lpstr>
      <vt:lpstr>Wingdings</vt:lpstr>
      <vt:lpstr>Poppins</vt:lpstr>
      <vt:lpstr>Cellular Respiration and its Impact on Health Research Thesis Defense by Slidesgo</vt:lpstr>
      <vt:lpstr>PowerPoint Presentation</vt:lpstr>
      <vt:lpstr>Outlines</vt:lpstr>
      <vt:lpstr>Project Overview</vt:lpstr>
      <vt:lpstr>System Workflow</vt:lpstr>
      <vt:lpstr>System Architecture</vt:lpstr>
      <vt:lpstr>Memory mapping</vt:lpstr>
      <vt:lpstr>Sliding Window Mechanism</vt:lpstr>
      <vt:lpstr>2D Convolution Formula</vt:lpstr>
      <vt:lpstr>Booth Multiplier</vt:lpstr>
      <vt:lpstr>Decision Logic</vt:lpstr>
      <vt:lpstr>Control Unit</vt:lpstr>
      <vt:lpstr>Summary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Cellular Respiration and its Impact on Health Research Thesis Defense</dc:title>
  <dc:creator>User</dc:creator>
  <cp:lastModifiedBy>User</cp:lastModifiedBy>
  <cp:revision>201</cp:revision>
  <dcterms:modified xsi:type="dcterms:W3CDTF">2026-02-01T08:11:09Z</dcterms:modified>
</cp:coreProperties>
</file>